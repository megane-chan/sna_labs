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Helvetica Neue" panose="020B0604020202020204" charset="0"/>
      <p:regular r:id="rId34"/>
      <p:bold r:id="rId35"/>
      <p:italic r:id="rId36"/>
      <p:boldItalic r:id="rId37"/>
    </p:embeddedFont>
    <p:embeddedFont>
      <p:font typeface="Helvetica Neue Light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8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88" y="120"/>
      </p:cViewPr>
      <p:guideLst>
        <p:guide orient="horz" pos="1620"/>
        <p:guide pos="2880"/>
        <p:guide orient="horz" pos="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sevolod Suschevskiy" userId="e8201536-76f1-4db2-b31d-df1aeee78554" providerId="ADAL" clId="{C7E3F272-2F74-443B-B67F-2B8C2197E225}"/>
    <pc:docChg chg="modSld">
      <pc:chgData name="Vsevolod Suschevskiy" userId="e8201536-76f1-4db2-b31d-df1aeee78554" providerId="ADAL" clId="{C7E3F272-2F74-443B-B67F-2B8C2197E225}" dt="2024-05-06T20:52:37.439" v="14" actId="20577"/>
      <pc:docMkLst>
        <pc:docMk/>
      </pc:docMkLst>
      <pc:sldChg chg="modSp mod">
        <pc:chgData name="Vsevolod Suschevskiy" userId="e8201536-76f1-4db2-b31d-df1aeee78554" providerId="ADAL" clId="{C7E3F272-2F74-443B-B67F-2B8C2197E225}" dt="2024-05-06T20:52:09.029" v="1" actId="20577"/>
        <pc:sldMkLst>
          <pc:docMk/>
          <pc:sldMk cId="0" sldId="256"/>
        </pc:sldMkLst>
        <pc:spChg chg="mod">
          <ac:chgData name="Vsevolod Suschevskiy" userId="e8201536-76f1-4db2-b31d-df1aeee78554" providerId="ADAL" clId="{C7E3F272-2F74-443B-B67F-2B8C2197E225}" dt="2024-05-06T20:52:09.029" v="1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 mod">
        <pc:chgData name="Vsevolod Suschevskiy" userId="e8201536-76f1-4db2-b31d-df1aeee78554" providerId="ADAL" clId="{C7E3F272-2F74-443B-B67F-2B8C2197E225}" dt="2024-05-06T20:52:37.439" v="14" actId="20577"/>
        <pc:sldMkLst>
          <pc:docMk/>
          <pc:sldMk cId="0" sldId="258"/>
        </pc:sldMkLst>
        <pc:spChg chg="mod">
          <ac:chgData name="Vsevolod Suschevskiy" userId="e8201536-76f1-4db2-b31d-df1aeee78554" providerId="ADAL" clId="{C7E3F272-2F74-443B-B67F-2B8C2197E225}" dt="2024-05-06T20:52:15.203" v="3" actId="20577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Vsevolod Suschevskiy" userId="e8201536-76f1-4db2-b31d-df1aeee78554" providerId="ADAL" clId="{C7E3F272-2F74-443B-B67F-2B8C2197E225}" dt="2024-05-06T20:52:37.439" v="14" actId="20577"/>
          <ac:spMkLst>
            <pc:docMk/>
            <pc:sldMk cId="0" sldId="258"/>
            <ac:spMk id="1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8c26629c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8c26629c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ba68bf9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ba68bf9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9de2ef62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9de2ef62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9f04af0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9f04af0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87e21f871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987e21f871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987e21f871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987e21f871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87e21f871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87e21f871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87e21f8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987e21f8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a9f04af0d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a9f04af0d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87e21f87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987e21f871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987e21f871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987e21f871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987e21f87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987e21f87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987e21f871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987e21f871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987e21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987e21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987e21f8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987e21f871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987e21f8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987e21f8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987e21f871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987e21f871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987e21f871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987e21f871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987e21f871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987e21f871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87e21f871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987e21f871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987e21f8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987e21f8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87e21f871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987e21f871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87e21f871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87e21f871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87e21f871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87e21f871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87e21f871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987e21f871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987e21f871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987e21f871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987e21f871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987e21f871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987e21f871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987e21f871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987e21f871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987e21f871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987e21f871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987e21f871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987e21f871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987e21f871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A2018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0" y="841781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i="0" u="none" strike="noStrike" cap="none">
                <a:solidFill>
                  <a:srgbClr val="4E2A84"/>
                </a:solidFill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457200" marR="0" lvl="1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14400" marR="0" lvl="2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71600" marR="0" lvl="3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828800" marR="0" lvl="4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2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Helvetica Neue Light"/>
              <a:buNone/>
              <a:defRPr sz="1800" i="0" u="none" strike="noStrike" cap="none">
                <a:solidFill>
                  <a:srgbClr val="4E2A8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9988" y="4706041"/>
            <a:ext cx="1130710" cy="35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6072" y="4629642"/>
            <a:ext cx="1259476" cy="411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i="0" u="none" strike="noStrike" cap="none">
                <a:solidFill>
                  <a:srgbClr val="4E2A84"/>
                </a:solidFill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0" y="764006"/>
            <a:ext cx="9144000" cy="4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i="0" u="none" strike="noStrike" cap="none">
                <a:solidFill>
                  <a:schemeClr val="dk1"/>
                </a:solidFill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7103400" y="481198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6000"/>
              <a:buNone/>
              <a:defRPr sz="6000" i="0" u="none" strike="noStrike" cap="none">
                <a:solidFill>
                  <a:srgbClr val="4E2A84"/>
                </a:solidFill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sz="1800">
                <a:solidFill>
                  <a:srgbClr val="4E2A84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 i="0" u="none" strike="noStrike" cap="none">
                <a:solidFill>
                  <a:srgbClr val="4E2A84"/>
                </a:solidFill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None/>
              <a:defRPr>
                <a:solidFill>
                  <a:srgbClr val="4E2A84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7086600" y="48339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rtl="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rtl="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rtl="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NIC PPT Template">
  <p:cSld name="TITLE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462500" y="2701525"/>
            <a:ext cx="82191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462500" y="1501250"/>
            <a:ext cx="8219100" cy="12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4200"/>
              <a:buFont typeface="Helvetica Neue"/>
              <a:buNone/>
              <a:defRPr sz="420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OBJECT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462500" y="462500"/>
            <a:ext cx="82191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>
            <a:off x="462500" y="1372400"/>
            <a:ext cx="8090100" cy="26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10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rtl="0">
              <a:spcBef>
                <a:spcPts val="500"/>
              </a:spcBef>
              <a:spcAft>
                <a:spcPts val="0"/>
              </a:spcAft>
              <a:buSzPts val="18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3600"/>
              <a:buFont typeface="Helvetica Neue"/>
              <a:buNone/>
              <a:defRPr sz="3600">
                <a:solidFill>
                  <a:srgbClr val="4E2A8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0" y="764006"/>
            <a:ext cx="9144000" cy="4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0" y="-1"/>
            <a:ext cx="9144000" cy="137100"/>
          </a:xfrm>
          <a:prstGeom prst="rect">
            <a:avLst/>
          </a:prstGeom>
          <a:gradFill>
            <a:gsLst>
              <a:gs pos="0">
                <a:srgbClr val="4E2A84"/>
              </a:gs>
              <a:gs pos="39000">
                <a:srgbClr val="6E519B"/>
              </a:gs>
              <a:gs pos="89000">
                <a:srgbClr val="E6E0EF"/>
              </a:gs>
              <a:gs pos="100000">
                <a:srgbClr val="E6E0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0" y="5107781"/>
            <a:ext cx="9144000" cy="34200"/>
          </a:xfrm>
          <a:prstGeom prst="rect">
            <a:avLst/>
          </a:prstGeom>
          <a:gradFill>
            <a:gsLst>
              <a:gs pos="0">
                <a:srgbClr val="4E2A84"/>
              </a:gs>
              <a:gs pos="39000">
                <a:srgbClr val="6E519B"/>
              </a:gs>
              <a:gs pos="89000">
                <a:srgbClr val="E6E0EF"/>
              </a:gs>
              <a:gs pos="100000">
                <a:srgbClr val="E6E0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9988" y="4706041"/>
            <a:ext cx="1130710" cy="35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816072" y="4629642"/>
            <a:ext cx="1259476" cy="41143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623888" y="901304"/>
            <a:ext cx="7886700" cy="21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Lab 5</a:t>
            </a:r>
            <a:endParaRPr b="1" dirty="0"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623888" y="3061098"/>
            <a:ext cx="7886700" cy="11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Autologistic Actor Attribute Models (ALAAMs)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(Bayesian Version, using R)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Autologistic Actor Attribute Model (ALAAM)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77725" y="861900"/>
            <a:ext cx="8997000" cy="3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ALAAM predicts node attributes based on </a:t>
            </a:r>
            <a:r>
              <a:rPr lang="en" sz="2000" u="sng"/>
              <a:t>fixed ties</a:t>
            </a:r>
            <a:endParaRPr sz="2000" u="sng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Models </a:t>
            </a:r>
            <a:r>
              <a:rPr lang="en" sz="2000" u="sng"/>
              <a:t>actor behaviors</a:t>
            </a:r>
            <a:r>
              <a:rPr lang="en" sz="2000"/>
              <a:t> - node attribute becomes dependent variable </a:t>
            </a:r>
            <a:endParaRPr sz="2000"/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While ERGMs predict network ties based on node attributes, ALAAM predicts node attributes based on network ties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Allows for the modeling of </a:t>
            </a:r>
            <a:r>
              <a:rPr lang="en" sz="2000" b="1">
                <a:latin typeface="Helvetica Neue"/>
                <a:ea typeface="Helvetica Neue"/>
                <a:cs typeface="Helvetica Neue"/>
                <a:sym typeface="Helvetica Neue"/>
              </a:rPr>
              <a:t>social influence processes</a:t>
            </a:r>
            <a:endParaRPr sz="2000"/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How friendship among teenagers (network ties) may influence whether they smoke (node attribute)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>
                <a:solidFill>
                  <a:srgbClr val="4E2A84"/>
                </a:solidFill>
              </a:rPr>
              <a:t>Effects in ALAAM</a:t>
            </a:r>
            <a:r>
              <a:rPr lang="en" sz="2000"/>
              <a:t>: network position, network attribute, covariate</a:t>
            </a:r>
            <a:endParaRPr sz="2000"/>
          </a:p>
        </p:txBody>
      </p:sp>
      <p:sp>
        <p:nvSpPr>
          <p:cNvPr id="106" name="Google Shape;106;p18"/>
          <p:cNvSpPr txBox="1"/>
          <p:nvPr/>
        </p:nvSpPr>
        <p:spPr>
          <a:xfrm>
            <a:off x="1623500" y="4611175"/>
            <a:ext cx="540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 Light"/>
                <a:ea typeface="Helvetica Neue Light"/>
                <a:cs typeface="Helvetica Neue Light"/>
                <a:sym typeface="Helvetica Neue Light"/>
              </a:rPr>
              <a:t>Daraganova, G., &amp; Robins, G. (2013). Autologistic actor attribute models. </a:t>
            </a:r>
            <a:r>
              <a:rPr lang="en" sz="10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Exponential random graph models for social networks: Theory, methods and applications, </a:t>
            </a:r>
            <a:r>
              <a:rPr lang="en" sz="1000">
                <a:latin typeface="Helvetica Neue Light"/>
                <a:ea typeface="Helvetica Neue Light"/>
                <a:cs typeface="Helvetica Neue Light"/>
                <a:sym typeface="Helvetica Neue Light"/>
              </a:rPr>
              <a:t>102-114. </a:t>
            </a:r>
            <a:endParaRPr sz="1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you need for Lab 5</a:t>
            </a:r>
            <a:endParaRPr dirty="0"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0" y="992600"/>
            <a:ext cx="9144000" cy="3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 dirty="0"/>
              <a:t>The main R script: </a:t>
            </a:r>
            <a:r>
              <a:rPr lang="en" sz="2400" b="1" dirty="0">
                <a:latin typeface="Helvetica Neue"/>
                <a:ea typeface="Helvetica Neue"/>
                <a:cs typeface="Helvetica Neue"/>
                <a:sym typeface="Helvetica Neue"/>
              </a:rPr>
              <a:t>Lab5_ALAAM.qmd</a:t>
            </a:r>
            <a:endParaRPr sz="24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334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2400" dirty="0"/>
              <a:t>	</a:t>
            </a:r>
          </a:p>
          <a:p>
            <a:pPr marL="5334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2400" dirty="0"/>
              <a:t>Data files:</a:t>
            </a:r>
            <a:endParaRPr sz="2400" dirty="0"/>
          </a:p>
          <a:p>
            <a:pPr marL="137160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AutoNum type="alphaLcPeriod"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WCOM_US.csv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37160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AutoNum type="alphaLcPeriod"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WCOM_China.csv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37160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AutoNum type="alphaLcPeriod"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attributes_US.csv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37160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400"/>
              <a:buAutoNum type="alphaLcPeriod"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attributes_China.csv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41850" y="916400"/>
            <a:ext cx="9060300" cy="3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 b="1"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r>
              <a:rPr lang="en" sz="2100" baseline="30000"/>
              <a:t>1</a:t>
            </a:r>
            <a:r>
              <a:rPr lang="en" sz="2100" b="1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en" sz="2100"/>
              <a:t> 200 employees across 31 organizational teams in the U.S. &amp; China</a:t>
            </a:r>
            <a:endParaRPr sz="21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Helvetica Neue"/>
                <a:ea typeface="Helvetica Neue"/>
                <a:cs typeface="Helvetica Neue"/>
                <a:sym typeface="Helvetica Neue"/>
              </a:rPr>
              <a:t>Focal attribute: Knowledge hiding behavior</a:t>
            </a:r>
            <a:r>
              <a:rPr lang="en" sz="1800"/>
              <a:t> (1 = frequently</a:t>
            </a:r>
            <a:r>
              <a:rPr lang="en" sz="1800" baseline="30000"/>
              <a:t>2</a:t>
            </a:r>
            <a:r>
              <a:rPr lang="en" sz="1800"/>
              <a:t>; 0 = otherwise)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Helvetica Neue"/>
                <a:ea typeface="Helvetica Neue"/>
                <a:cs typeface="Helvetica Neue"/>
                <a:sym typeface="Helvetica Neue"/>
              </a:rPr>
              <a:t>Other attributes:</a:t>
            </a:r>
            <a:r>
              <a:rPr lang="en" sz="1800"/>
              <a:t> age, gender, education-level, tenure with current team, outdegree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Helvetica Neue"/>
                <a:ea typeface="Helvetica Neue"/>
                <a:cs typeface="Helvetica Neue"/>
                <a:sym typeface="Helvetica Neue"/>
              </a:rPr>
              <a:t>Directed ties: </a:t>
            </a:r>
            <a:r>
              <a:rPr lang="en" sz="1800"/>
              <a:t>Communication for work-related purposes (1 = frequently</a:t>
            </a:r>
            <a:r>
              <a:rPr lang="en" sz="1800" baseline="30000"/>
              <a:t>2</a:t>
            </a:r>
            <a:r>
              <a:rPr lang="en" sz="1800"/>
              <a:t>; 0  = o.w.)</a:t>
            </a:r>
            <a:endParaRPr sz="21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Helvetica Neue"/>
                <a:ea typeface="Helvetica Neue"/>
                <a:cs typeface="Helvetica Neue"/>
                <a:sym typeface="Helvetica Neue"/>
              </a:rPr>
              <a:t>Assignment Goal: </a:t>
            </a:r>
            <a:r>
              <a:rPr lang="en" sz="2100"/>
              <a:t>Use Bayesian ALAAM to predict employees’ tendency to hide knowledge from their team members based on their workplace communication network and other attributes</a:t>
            </a:r>
            <a:endParaRPr sz="1700"/>
          </a:p>
        </p:txBody>
      </p:sp>
      <p:sp>
        <p:nvSpPr>
          <p:cNvPr id="119" name="Google Shape;119;p20"/>
          <p:cNvSpPr txBox="1"/>
          <p:nvPr/>
        </p:nvSpPr>
        <p:spPr>
          <a:xfrm>
            <a:off x="1390425" y="4545013"/>
            <a:ext cx="56766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(1)  Data collected by Prof. Chunke Su, Univ. of Texas at Arlington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(2)  Frequency is binarized based on the within-team mean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Knowledge Hiding?</a:t>
            </a: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1"/>
          </p:nvPr>
        </p:nvSpPr>
        <p:spPr>
          <a:xfrm>
            <a:off x="41850" y="916400"/>
            <a:ext cx="9060300" cy="3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Helvetica Neue"/>
                <a:ea typeface="Helvetica Neue"/>
                <a:cs typeface="Helvetica Neue"/>
                <a:sym typeface="Helvetica Neue"/>
              </a:rPr>
              <a:t>Focal attribute: Knowledge hiding behavior</a:t>
            </a:r>
            <a:r>
              <a:rPr lang="en" sz="1800"/>
              <a:t> (1 = frequently</a:t>
            </a:r>
            <a:r>
              <a:rPr lang="en" sz="1800" baseline="30000"/>
              <a:t>2</a:t>
            </a:r>
            <a:r>
              <a:rPr lang="en" sz="1800"/>
              <a:t>; 0 = otherwise)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175" y="1473400"/>
            <a:ext cx="6001649" cy="335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Binarizing Knowledge Hiding</a:t>
            </a:r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1"/>
          </p:nvPr>
        </p:nvSpPr>
        <p:spPr>
          <a:xfrm>
            <a:off x="41850" y="916400"/>
            <a:ext cx="90603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Helvetica Neue"/>
                <a:ea typeface="Helvetica Neue"/>
                <a:cs typeface="Helvetica Neue"/>
                <a:sym typeface="Helvetica Neue"/>
              </a:rPr>
              <a:t>Focal attribute: Knowledge hiding behavior</a:t>
            </a:r>
            <a:r>
              <a:rPr lang="en" sz="1800"/>
              <a:t> (1 = frequently</a:t>
            </a:r>
            <a:r>
              <a:rPr lang="en" sz="1800" baseline="30000"/>
              <a:t>2</a:t>
            </a:r>
            <a:r>
              <a:rPr lang="en" sz="1800"/>
              <a:t>; 0 = otherwise)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00" y="1455925"/>
            <a:ext cx="3902918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4155325" y="3112825"/>
            <a:ext cx="695700" cy="305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3725" y="1455925"/>
            <a:ext cx="4098413" cy="361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Binarizing Knowledge Hiding</a:t>
            </a: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body" idx="1"/>
          </p:nvPr>
        </p:nvSpPr>
        <p:spPr>
          <a:xfrm>
            <a:off x="41850" y="916400"/>
            <a:ext cx="90603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latin typeface="Helvetica Neue"/>
                <a:ea typeface="Helvetica Neue"/>
                <a:cs typeface="Helvetica Neue"/>
                <a:sym typeface="Helvetica Neue"/>
              </a:rPr>
              <a:t>Focal attribute: Knowledge hiding behavior</a:t>
            </a:r>
            <a:r>
              <a:rPr lang="en" sz="1800"/>
              <a:t> (1 = frequently</a:t>
            </a:r>
            <a:r>
              <a:rPr lang="en" sz="1800" baseline="30000"/>
              <a:t>2</a:t>
            </a:r>
            <a:r>
              <a:rPr lang="en" sz="1800"/>
              <a:t>; 0 = otherwise)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00" y="1455925"/>
            <a:ext cx="3902918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/>
          <p:nvPr/>
        </p:nvSpPr>
        <p:spPr>
          <a:xfrm>
            <a:off x="4155325" y="3112825"/>
            <a:ext cx="695700" cy="305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3725" y="1455925"/>
            <a:ext cx="4098413" cy="361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p23"/>
          <p:cNvSpPr txBox="1"/>
          <p:nvPr/>
        </p:nvSpPr>
        <p:spPr>
          <a:xfrm>
            <a:off x="1106700" y="3112825"/>
            <a:ext cx="3826200" cy="16722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Team 3’s mean knowledge hiding tendency = </a:t>
            </a:r>
            <a:r>
              <a:rPr lang="en" sz="1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1.14 </a:t>
            </a:r>
            <a:endParaRPr sz="1900"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r>
              <a:rPr lang="en" sz="1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threshold for assigning 0/1 knowledge hiding values</a:t>
            </a:r>
            <a:endParaRPr sz="19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5003712" y="4416250"/>
            <a:ext cx="4098300" cy="6591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body" idx="1"/>
          </p:nvPr>
        </p:nvSpPr>
        <p:spPr>
          <a:xfrm>
            <a:off x="0" y="916400"/>
            <a:ext cx="9144000" cy="3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50 girls from first wave of the ‘Teenage Friends &amp; Lifestyle Study’</a:t>
            </a:r>
            <a:endParaRPr sz="24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" sz="2200" b="1">
                <a:latin typeface="Helvetica Neue"/>
                <a:ea typeface="Helvetica Neue"/>
                <a:cs typeface="Helvetica Neue"/>
                <a:sym typeface="Helvetica Neue"/>
              </a:rPr>
              <a:t>Focal attribute: smoking (1 = regularly; 0 = otherwise)</a:t>
            </a:r>
            <a:endParaRPr sz="22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" sz="2200"/>
              <a:t>Other attributes: sport &amp; alcohol (1 = regularly; 0 = otherwise)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Friendship ties (1 = friendship from a girl to another; 0  = otherwise)</a:t>
            </a:r>
            <a:endParaRPr sz="2200"/>
          </a:p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l="656" t="9858" r="2818" b="34693"/>
          <a:stretch/>
        </p:blipFill>
        <p:spPr>
          <a:xfrm>
            <a:off x="1684200" y="2736400"/>
            <a:ext cx="5775602" cy="186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</a:t>
            </a:r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0" y="851650"/>
            <a:ext cx="9144000" cy="21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b="1">
                <a:latin typeface="Helvetica Neue"/>
                <a:ea typeface="Helvetica Neue"/>
                <a:cs typeface="Helvetica Neue"/>
                <a:sym typeface="Helvetica Neue"/>
              </a:rPr>
              <a:t>Hypothesis 1:</a:t>
            </a:r>
            <a:r>
              <a:rPr lang="en" sz="2200"/>
              <a:t> </a:t>
            </a:r>
            <a:r>
              <a:rPr lang="en" sz="2200" i="1"/>
              <a:t>There is a positive contagion effect for knowledge hiding.</a:t>
            </a:r>
            <a:endParaRPr sz="2200" i="1"/>
          </a:p>
          <a:p>
            <a:pPr marL="457200" lvl="0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" sz="2200" b="1">
                <a:latin typeface="Helvetica Neue"/>
                <a:ea typeface="Helvetica Neue"/>
                <a:cs typeface="Helvetica Neue"/>
                <a:sym typeface="Helvetica Neue"/>
              </a:rPr>
              <a:t>DV: </a:t>
            </a:r>
            <a:r>
              <a:rPr lang="en" sz="2200"/>
              <a:t>knowledge hiding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 b="1">
                <a:latin typeface="Helvetica Neue"/>
                <a:ea typeface="Helvetica Neue"/>
                <a:cs typeface="Helvetica Neue"/>
                <a:sym typeface="Helvetica Neue"/>
              </a:rPr>
              <a:t>IV: </a:t>
            </a:r>
            <a:r>
              <a:rPr lang="en" sz="2200"/>
              <a:t>alter’s knowledge hiding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A positive relation b/w IV and DV</a:t>
            </a:r>
            <a:endParaRPr sz="22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</p:txBody>
      </p:sp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t="18185" b="13805"/>
          <a:stretch/>
        </p:blipFill>
        <p:spPr>
          <a:xfrm>
            <a:off x="2609363" y="2963650"/>
            <a:ext cx="3925275" cy="188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/>
          <p:nvPr/>
        </p:nvSpPr>
        <p:spPr>
          <a:xfrm>
            <a:off x="2689455" y="1078350"/>
            <a:ext cx="1128000" cy="202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198300" y="2813350"/>
            <a:ext cx="2255700" cy="7932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Estimates (𝛉) are log-odds ratios</a:t>
            </a:r>
            <a:endParaRPr sz="20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/>
          <p:nvPr/>
        </p:nvSpPr>
        <p:spPr>
          <a:xfrm>
            <a:off x="198300" y="2356150"/>
            <a:ext cx="2255700" cy="10275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Standard deviations associated with the estimates</a:t>
            </a:r>
            <a:endParaRPr sz="17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3832455" y="1078350"/>
            <a:ext cx="1128000" cy="202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/>
          <p:nvPr/>
        </p:nvSpPr>
        <p:spPr>
          <a:xfrm>
            <a:off x="4941446" y="1078350"/>
            <a:ext cx="3428700" cy="202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198300" y="2356150"/>
            <a:ext cx="2255700" cy="49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What is ESS?</a:t>
            </a:r>
            <a:endParaRPr sz="20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4941447" y="1078350"/>
            <a:ext cx="1171800" cy="202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Effective Sample Size (ESS)?</a:t>
            </a:r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body" idx="1"/>
          </p:nvPr>
        </p:nvSpPr>
        <p:spPr>
          <a:xfrm>
            <a:off x="0" y="916401"/>
            <a:ext cx="9144000" cy="3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Like ERGMs, ALAAM draws networks samples from a Markov Chain Monte Carlo (MCMC) simulation. These samples are not independent and can be highly correlated among themselves.</a:t>
            </a:r>
            <a:endParaRPr sz="2100"/>
          </a:p>
          <a:p>
            <a:pPr marL="457200" lvl="0" indent="-3619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After this model calculated 1,000 of MCMC samples, we want to see how many of these samples are independent.</a:t>
            </a:r>
            <a:endParaRPr sz="2100"/>
          </a:p>
          <a:p>
            <a:pPr marL="457200" lvl="0" indent="-3619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In statistics, ESS is a heuristic to measure how many of these MCMC samples are independent. </a:t>
            </a:r>
            <a:endParaRPr sz="2100"/>
          </a:p>
          <a:p>
            <a:pPr marL="91440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" sz="2100"/>
              <a:t>If all samples are correlated, ESS = 1. </a:t>
            </a:r>
            <a:r>
              <a:rPr lang="en" sz="1600"/>
              <a:t>(One sample is worth it)</a:t>
            </a:r>
            <a:endParaRPr sz="1600"/>
          </a:p>
          <a:p>
            <a:pPr marL="91440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•"/>
            </a:pPr>
            <a:r>
              <a:rPr lang="en" sz="2100"/>
              <a:t>If all samples are not correlated, ESS = 1,000. </a:t>
            </a:r>
            <a:r>
              <a:rPr lang="en" sz="1600"/>
              <a:t>(All the samples are worth it)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Effective Sample Size (ESS)?</a:t>
            </a:r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1"/>
          </p:nvPr>
        </p:nvSpPr>
        <p:spPr>
          <a:xfrm>
            <a:off x="0" y="764001"/>
            <a:ext cx="9144000" cy="3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How is ESS calculated? 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If all samples are independent (</a:t>
            </a:r>
            <a:r>
              <a:rPr lang="en" sz="2000" i="1"/>
              <a:t>p</a:t>
            </a:r>
            <a:r>
              <a:rPr lang="en" sz="2000"/>
              <a:t> = 0), then ESS = n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If all samples are dependent (</a:t>
            </a:r>
            <a:r>
              <a:rPr lang="en" sz="2000" i="1"/>
              <a:t>p</a:t>
            </a:r>
            <a:r>
              <a:rPr lang="en" sz="2000"/>
              <a:t> = 1), then ESS ~ 1</a:t>
            </a:r>
            <a:endParaRPr sz="200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What ESS is adequate?</a:t>
            </a:r>
            <a:endParaRPr sz="24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The larger the better. &gt; 100 would be good, &gt; 200 would be better. Chasing ESS &gt; 10,000 may be a waste of computational resources.</a:t>
            </a:r>
            <a:endParaRPr/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400" y="1477677"/>
            <a:ext cx="7760751" cy="69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/>
          <p:nvPr/>
        </p:nvSpPr>
        <p:spPr>
          <a:xfrm>
            <a:off x="4941447" y="1078350"/>
            <a:ext cx="1171800" cy="202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4"/>
          <p:cNvSpPr txBox="1"/>
          <p:nvPr/>
        </p:nvSpPr>
        <p:spPr>
          <a:xfrm>
            <a:off x="198300" y="2356150"/>
            <a:ext cx="2255700" cy="779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What is SACF 10 and SACF 30?</a:t>
            </a:r>
            <a:endParaRPr sz="20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24" name="Google Shape;224;p34"/>
          <p:cNvSpPr/>
          <p:nvPr/>
        </p:nvSpPr>
        <p:spPr>
          <a:xfrm>
            <a:off x="6126594" y="1078350"/>
            <a:ext cx="2255700" cy="202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SACF?</a:t>
            </a:r>
            <a:endParaRPr/>
          </a:p>
        </p:txBody>
      </p:sp>
      <p:sp>
        <p:nvSpPr>
          <p:cNvPr id="231" name="Google Shape;231;p35"/>
          <p:cNvSpPr txBox="1">
            <a:spLocks noGrp="1"/>
          </p:cNvSpPr>
          <p:nvPr>
            <p:ph type="body" idx="1"/>
          </p:nvPr>
        </p:nvSpPr>
        <p:spPr>
          <a:xfrm>
            <a:off x="0" y="764006"/>
            <a:ext cx="91440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The </a:t>
            </a: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Sample Autocorrelation Function</a:t>
            </a:r>
            <a:r>
              <a:rPr lang="en"/>
              <a:t> (SACF) indicates to what extent every lag sample draw is </a:t>
            </a:r>
            <a:r>
              <a:rPr lang="en" i="1"/>
              <a:t>auto</a:t>
            </a:r>
            <a:r>
              <a:rPr lang="en"/>
              <a:t>correlated or correlated with the previous lag.</a:t>
            </a:r>
            <a:endParaRPr sz="2000"/>
          </a:p>
        </p:txBody>
      </p:sp>
      <p:pic>
        <p:nvPicPr>
          <p:cNvPr id="232" name="Google Shape;23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22" y="2293475"/>
            <a:ext cx="3656699" cy="133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1125" y="2264750"/>
            <a:ext cx="3656700" cy="13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/>
          <p:nvPr/>
        </p:nvSpPr>
        <p:spPr>
          <a:xfrm>
            <a:off x="666225" y="3833775"/>
            <a:ext cx="3767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Chain 1 shows that autocorrelation is large at short lags, but then goes to zero pretty quickly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35" name="Google Shape;235;p35"/>
          <p:cNvSpPr txBox="1"/>
          <p:nvPr/>
        </p:nvSpPr>
        <p:spPr>
          <a:xfrm>
            <a:off x="4640750" y="3833775"/>
            <a:ext cx="3767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Chain 2 shows that autocorrelation is not only large at short lags, but also dies out very slowly. 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SACF?</a:t>
            </a:r>
            <a:endParaRPr/>
          </a:p>
        </p:txBody>
      </p:sp>
      <p:sp>
        <p:nvSpPr>
          <p:cNvPr id="241" name="Google Shape;241;p36"/>
          <p:cNvSpPr txBox="1">
            <a:spLocks noGrp="1"/>
          </p:cNvSpPr>
          <p:nvPr>
            <p:ph type="body" idx="1"/>
          </p:nvPr>
        </p:nvSpPr>
        <p:spPr>
          <a:xfrm>
            <a:off x="0" y="1013375"/>
            <a:ext cx="9144000" cy="37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What we want for SACF: lower is better</a:t>
            </a:r>
            <a:endParaRPr/>
          </a:p>
          <a:p>
            <a:pPr marL="914400" lvl="1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SACF </a:t>
            </a:r>
            <a:r>
              <a:rPr lang="en" sz="2300" b="1"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r>
              <a:rPr lang="en" sz="2300"/>
              <a:t>: We pick every </a:t>
            </a:r>
            <a:r>
              <a:rPr lang="en" sz="2300" b="1">
                <a:latin typeface="Helvetica Neue"/>
                <a:ea typeface="Helvetica Neue"/>
                <a:cs typeface="Helvetica Neue"/>
                <a:sym typeface="Helvetica Neue"/>
              </a:rPr>
              <a:t>10th</a:t>
            </a:r>
            <a:r>
              <a:rPr lang="en" sz="2300"/>
              <a:t> draw of 1,000 MCMC iterations. </a:t>
            </a:r>
            <a:endParaRPr sz="2300"/>
          </a:p>
          <a:p>
            <a:pPr marL="1371600" lvl="2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How are these draws autocorrelated? Ideally, it should be </a:t>
            </a: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&lt; .70</a:t>
            </a:r>
            <a:r>
              <a:rPr lang="en"/>
              <a:t> for each variable</a:t>
            </a:r>
            <a:endParaRPr/>
          </a:p>
          <a:p>
            <a:pPr marL="914400" lvl="1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SACF </a:t>
            </a:r>
            <a:r>
              <a:rPr lang="en" sz="2300" b="1">
                <a:latin typeface="Helvetica Neue"/>
                <a:ea typeface="Helvetica Neue"/>
                <a:cs typeface="Helvetica Neue"/>
                <a:sym typeface="Helvetica Neue"/>
              </a:rPr>
              <a:t>30</a:t>
            </a:r>
            <a:r>
              <a:rPr lang="en" sz="2300"/>
              <a:t>: We pick every </a:t>
            </a:r>
            <a:r>
              <a:rPr lang="en" sz="2300" b="1">
                <a:latin typeface="Helvetica Neue"/>
                <a:ea typeface="Helvetica Neue"/>
                <a:cs typeface="Helvetica Neue"/>
                <a:sym typeface="Helvetica Neue"/>
              </a:rPr>
              <a:t>30th</a:t>
            </a:r>
            <a:r>
              <a:rPr lang="en" sz="2300"/>
              <a:t> draw of 1,000 MCMC iterations. </a:t>
            </a:r>
            <a:endParaRPr sz="2300"/>
          </a:p>
          <a:p>
            <a:pPr marL="1371600" lvl="2" indent="-355600" algn="l" rtl="0">
              <a:spcBef>
                <a:spcPts val="1000"/>
              </a:spcBef>
              <a:spcAft>
                <a:spcPts val="1000"/>
              </a:spcAft>
              <a:buSzPts val="2000"/>
              <a:buChar char="•"/>
            </a:pPr>
            <a:r>
              <a:rPr lang="en"/>
              <a:t>Ideally, it should be </a:t>
            </a: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&lt; .30</a:t>
            </a:r>
            <a:r>
              <a:rPr lang="en"/>
              <a:t> for each variable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12" y="1121525"/>
            <a:ext cx="7596374" cy="29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7"/>
          <p:cNvSpPr/>
          <p:nvPr/>
        </p:nvSpPr>
        <p:spPr>
          <a:xfrm>
            <a:off x="6126594" y="1078350"/>
            <a:ext cx="2255700" cy="202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0 - initial contagion model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120" y="990750"/>
            <a:ext cx="7143602" cy="36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8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is ESS/SACF from?</a:t>
            </a:r>
            <a:endParaRPr/>
          </a:p>
        </p:txBody>
      </p:sp>
      <p:sp>
        <p:nvSpPr>
          <p:cNvPr id="255" name="Google Shape;255;p38"/>
          <p:cNvSpPr/>
          <p:nvPr/>
        </p:nvSpPr>
        <p:spPr>
          <a:xfrm>
            <a:off x="1053500" y="1251800"/>
            <a:ext cx="446100" cy="30489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8"/>
          <p:cNvSpPr txBox="1"/>
          <p:nvPr/>
        </p:nvSpPr>
        <p:spPr>
          <a:xfrm>
            <a:off x="74375" y="732500"/>
            <a:ext cx="1648500" cy="5193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Estimates (𝛉)</a:t>
            </a:r>
            <a:endParaRPr sz="20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7" name="Google Shape;257;p38"/>
          <p:cNvSpPr/>
          <p:nvPr/>
        </p:nvSpPr>
        <p:spPr>
          <a:xfrm>
            <a:off x="5139075" y="3564700"/>
            <a:ext cx="3029400" cy="3912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8"/>
          <p:cNvSpPr txBox="1"/>
          <p:nvPr/>
        </p:nvSpPr>
        <p:spPr>
          <a:xfrm>
            <a:off x="7107900" y="3955900"/>
            <a:ext cx="1875000" cy="5193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MCMC sample</a:t>
            </a:r>
            <a:endParaRPr sz="20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Trace Plot</a:t>
            </a:r>
            <a:endParaRPr/>
          </a:p>
        </p:txBody>
      </p:sp>
      <p:pic>
        <p:nvPicPr>
          <p:cNvPr id="264" name="Google Shape;264;p39"/>
          <p:cNvPicPr preferRelativeResize="0"/>
          <p:nvPr/>
        </p:nvPicPr>
        <p:blipFill rotWithShape="1">
          <a:blip r:embed="rId3">
            <a:alphaModFix/>
          </a:blip>
          <a:srcRect l="15909" t="24036" r="37365" b="17507"/>
          <a:stretch/>
        </p:blipFill>
        <p:spPr>
          <a:xfrm>
            <a:off x="2488875" y="1028700"/>
            <a:ext cx="5233050" cy="368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9"/>
          <p:cNvSpPr txBox="1"/>
          <p:nvPr/>
        </p:nvSpPr>
        <p:spPr>
          <a:xfrm>
            <a:off x="122100" y="1636000"/>
            <a:ext cx="2366700" cy="2298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draws here randomly fluctuate around the mean (1.5). If we project the draws to a histogram, this shows us a normal distribution centered around 1.5.</a:t>
            </a:r>
            <a:endParaRPr sz="17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266" name="Google Shape;266;p39"/>
          <p:cNvCxnSpPr/>
          <p:nvPr/>
        </p:nvCxnSpPr>
        <p:spPr>
          <a:xfrm>
            <a:off x="3160475" y="2565550"/>
            <a:ext cx="179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750" y="1818675"/>
            <a:ext cx="6518150" cy="32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improve ESS/SACF?</a:t>
            </a:r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body" idx="1"/>
          </p:nvPr>
        </p:nvSpPr>
        <p:spPr>
          <a:xfrm>
            <a:off x="0" y="764006"/>
            <a:ext cx="91440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Increase iterations!</a:t>
            </a:r>
            <a:endParaRPr sz="1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Or, use a better proposal covariance </a:t>
            </a:r>
            <a:r>
              <a:rPr lang="en" sz="1800"/>
              <a:t>(see code comments)</a:t>
            </a:r>
            <a:endParaRPr sz="1800"/>
          </a:p>
        </p:txBody>
      </p:sp>
      <p:sp>
        <p:nvSpPr>
          <p:cNvPr id="274" name="Google Shape;274;p40"/>
          <p:cNvSpPr txBox="1"/>
          <p:nvPr/>
        </p:nvSpPr>
        <p:spPr>
          <a:xfrm>
            <a:off x="56450" y="1881850"/>
            <a:ext cx="1809600" cy="6156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Looks better?!</a:t>
            </a:r>
            <a:endParaRPr sz="20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1 - improved contagion model</a:t>
            </a:r>
            <a:endParaRPr/>
          </a:p>
        </p:txBody>
      </p:sp>
      <p:pic>
        <p:nvPicPr>
          <p:cNvPr id="280" name="Google Shape;2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475" y="1235869"/>
            <a:ext cx="7705766" cy="301418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1"/>
          <p:cNvSpPr/>
          <p:nvPr/>
        </p:nvSpPr>
        <p:spPr>
          <a:xfrm>
            <a:off x="4827515" y="1133500"/>
            <a:ext cx="3651000" cy="20868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41"/>
          <p:cNvSpPr txBox="1"/>
          <p:nvPr/>
        </p:nvSpPr>
        <p:spPr>
          <a:xfrm>
            <a:off x="63225" y="2411275"/>
            <a:ext cx="1686300" cy="5610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Much better!</a:t>
            </a:r>
            <a:endParaRPr sz="200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3" name="Google Shape;283;p41"/>
          <p:cNvSpPr/>
          <p:nvPr/>
        </p:nvSpPr>
        <p:spPr>
          <a:xfrm>
            <a:off x="5860225" y="3984100"/>
            <a:ext cx="2782500" cy="32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Hypotheses</a:t>
            </a:r>
            <a:endParaRPr/>
          </a:p>
        </p:txBody>
      </p:sp>
      <p:sp>
        <p:nvSpPr>
          <p:cNvPr id="289" name="Google Shape;289;p42"/>
          <p:cNvSpPr txBox="1">
            <a:spLocks noGrp="1"/>
          </p:cNvSpPr>
          <p:nvPr>
            <p:ph type="body" idx="1"/>
          </p:nvPr>
        </p:nvSpPr>
        <p:spPr>
          <a:xfrm>
            <a:off x="0" y="764005"/>
            <a:ext cx="9144000" cy="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" sz="1800"/>
              <a:t>Similar to ERGM Lab</a:t>
            </a:r>
            <a:endParaRPr sz="2000"/>
          </a:p>
        </p:txBody>
      </p:sp>
      <p:sp>
        <p:nvSpPr>
          <p:cNvPr id="290" name="Google Shape;290;p42"/>
          <p:cNvSpPr/>
          <p:nvPr/>
        </p:nvSpPr>
        <p:spPr>
          <a:xfrm>
            <a:off x="363075" y="1554631"/>
            <a:ext cx="1435482" cy="801576"/>
          </a:xfrm>
          <a:prstGeom prst="flowChartTerminator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Run a statistical test (i.e., ALAAM)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2056550" y="1554619"/>
            <a:ext cx="1319400" cy="8016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See 95% CI of the proper variable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3693750" y="1449925"/>
            <a:ext cx="2269200" cy="1020000"/>
          </a:xfrm>
          <a:prstGeom prst="diamond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95% CI includes 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3" name="Google Shape;293;p42"/>
          <p:cNvSpPr/>
          <p:nvPr/>
        </p:nvSpPr>
        <p:spPr>
          <a:xfrm>
            <a:off x="1904913" y="3385500"/>
            <a:ext cx="1319400" cy="6978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Reject the </a:t>
            </a:r>
            <a:r>
              <a:rPr lang="en" sz="1300" i="1">
                <a:solidFill>
                  <a:srgbClr val="FFFFFF"/>
                </a:solidFill>
              </a:rPr>
              <a:t>null</a:t>
            </a:r>
            <a:r>
              <a:rPr lang="en" sz="1300">
                <a:solidFill>
                  <a:srgbClr val="FFFFFF"/>
                </a:solidFill>
              </a:rPr>
              <a:t> hypothesis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6770450" y="1554631"/>
            <a:ext cx="1980234" cy="801576"/>
          </a:xfrm>
          <a:prstGeom prst="flowChartTerminator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Fail to reject the </a:t>
            </a:r>
            <a:r>
              <a:rPr lang="en" sz="1200" i="1">
                <a:solidFill>
                  <a:schemeClr val="lt1"/>
                </a:solidFill>
              </a:rPr>
              <a:t>null </a:t>
            </a:r>
            <a:r>
              <a:rPr lang="en" sz="1200">
                <a:solidFill>
                  <a:schemeClr val="lt1"/>
                </a:solidFill>
              </a:rPr>
              <a:t>hypothesis </a:t>
            </a:r>
            <a:r>
              <a:rPr lang="en" sz="1100">
                <a:solidFill>
                  <a:schemeClr val="lt1"/>
                </a:solidFill>
              </a:rPr>
              <a:t>(don’t interpret the estimate)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6770450" y="2927238"/>
            <a:ext cx="1980234" cy="744660"/>
          </a:xfrm>
          <a:prstGeom prst="flowChartTerminator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Accept the proposed hypothesis &amp; interpret the estimate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6770450" y="3796984"/>
            <a:ext cx="1980234" cy="744660"/>
          </a:xfrm>
          <a:prstGeom prst="flowChartTerminator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Reject the proposed</a:t>
            </a: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hypothesis &amp; interpret the estimate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97" name="Google Shape;297;p42"/>
          <p:cNvCxnSpPr>
            <a:stCxn id="290" idx="3"/>
            <a:endCxn id="291" idx="1"/>
          </p:cNvCxnSpPr>
          <p:nvPr/>
        </p:nvCxnSpPr>
        <p:spPr>
          <a:xfrm>
            <a:off x="1798557" y="1955419"/>
            <a:ext cx="2580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8" name="Google Shape;298;p42"/>
          <p:cNvCxnSpPr>
            <a:stCxn id="291" idx="3"/>
            <a:endCxn id="292" idx="1"/>
          </p:cNvCxnSpPr>
          <p:nvPr/>
        </p:nvCxnSpPr>
        <p:spPr>
          <a:xfrm>
            <a:off x="3375950" y="1955419"/>
            <a:ext cx="317700" cy="4500"/>
          </a:xfrm>
          <a:prstGeom prst="bentConnector3">
            <a:avLst>
              <a:gd name="adj1" fmla="val 5001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9" name="Google Shape;299;p42"/>
          <p:cNvCxnSpPr>
            <a:stCxn id="292" idx="2"/>
            <a:endCxn id="293" idx="0"/>
          </p:cNvCxnSpPr>
          <p:nvPr/>
        </p:nvCxnSpPr>
        <p:spPr>
          <a:xfrm rot="5400000">
            <a:off x="3238650" y="1795825"/>
            <a:ext cx="915600" cy="2263800"/>
          </a:xfrm>
          <a:prstGeom prst="bentConnector3">
            <a:avLst>
              <a:gd name="adj1" fmla="val 35905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00" name="Google Shape;300;p42"/>
          <p:cNvCxnSpPr>
            <a:stCxn id="292" idx="3"/>
            <a:endCxn id="294" idx="1"/>
          </p:cNvCxnSpPr>
          <p:nvPr/>
        </p:nvCxnSpPr>
        <p:spPr>
          <a:xfrm rot="10800000" flipH="1">
            <a:off x="5962950" y="1955425"/>
            <a:ext cx="807600" cy="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Google Shape;301;p42"/>
          <p:cNvCxnSpPr>
            <a:stCxn id="302" idx="3"/>
            <a:endCxn id="295" idx="1"/>
          </p:cNvCxnSpPr>
          <p:nvPr/>
        </p:nvCxnSpPr>
        <p:spPr>
          <a:xfrm rot="10800000" flipH="1">
            <a:off x="6260925" y="3299700"/>
            <a:ext cx="509400" cy="4347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3" name="Google Shape;303;p42"/>
          <p:cNvCxnSpPr>
            <a:stCxn id="302" idx="3"/>
            <a:endCxn id="296" idx="1"/>
          </p:cNvCxnSpPr>
          <p:nvPr/>
        </p:nvCxnSpPr>
        <p:spPr>
          <a:xfrm>
            <a:off x="6260925" y="3734400"/>
            <a:ext cx="509400" cy="4350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04" name="Google Shape;304;p42"/>
          <p:cNvCxnSpPr/>
          <p:nvPr/>
        </p:nvCxnSpPr>
        <p:spPr>
          <a:xfrm>
            <a:off x="7543550" y="462400"/>
            <a:ext cx="55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5" name="Google Shape;305;p42"/>
          <p:cNvCxnSpPr/>
          <p:nvPr/>
        </p:nvCxnSpPr>
        <p:spPr>
          <a:xfrm>
            <a:off x="7543550" y="767200"/>
            <a:ext cx="55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06" name="Google Shape;306;p42"/>
          <p:cNvSpPr txBox="1"/>
          <p:nvPr/>
        </p:nvSpPr>
        <p:spPr>
          <a:xfrm>
            <a:off x="8212825" y="276500"/>
            <a:ext cx="78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Yes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8212825" y="581300"/>
            <a:ext cx="78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No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2" name="Google Shape;302;p42"/>
          <p:cNvSpPr/>
          <p:nvPr/>
        </p:nvSpPr>
        <p:spPr>
          <a:xfrm>
            <a:off x="3628125" y="3042750"/>
            <a:ext cx="2632800" cy="1383300"/>
          </a:xfrm>
          <a:prstGeom prst="diamond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Sign of the estimate aligns with the proposed hypothesis?</a:t>
            </a:r>
            <a:endParaRPr sz="1300">
              <a:solidFill>
                <a:srgbClr val="FFFFFF"/>
              </a:solidFill>
            </a:endParaRPr>
          </a:p>
        </p:txBody>
      </p:sp>
      <p:cxnSp>
        <p:nvCxnSpPr>
          <p:cNvPr id="308" name="Google Shape;308;p42"/>
          <p:cNvCxnSpPr>
            <a:stCxn id="293" idx="3"/>
            <a:endCxn id="302" idx="1"/>
          </p:cNvCxnSpPr>
          <p:nvPr/>
        </p:nvCxnSpPr>
        <p:spPr>
          <a:xfrm>
            <a:off x="3224313" y="3734400"/>
            <a:ext cx="40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826" y="1488359"/>
            <a:ext cx="5161500" cy="204157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3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Hypothesis 1</a:t>
            </a:r>
            <a:endParaRPr/>
          </a:p>
        </p:txBody>
      </p:sp>
      <p:sp>
        <p:nvSpPr>
          <p:cNvPr id="315" name="Google Shape;315;p43"/>
          <p:cNvSpPr txBox="1">
            <a:spLocks noGrp="1"/>
          </p:cNvSpPr>
          <p:nvPr>
            <p:ph type="body" idx="1"/>
          </p:nvPr>
        </p:nvSpPr>
        <p:spPr>
          <a:xfrm>
            <a:off x="0" y="764005"/>
            <a:ext cx="9144000" cy="5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i="1"/>
              <a:t>There is a positive contagion effect for knowledge hiding.</a:t>
            </a:r>
            <a:endParaRPr sz="2000" i="1"/>
          </a:p>
        </p:txBody>
      </p:sp>
      <p:sp>
        <p:nvSpPr>
          <p:cNvPr id="316" name="Google Shape;316;p43"/>
          <p:cNvSpPr/>
          <p:nvPr/>
        </p:nvSpPr>
        <p:spPr>
          <a:xfrm>
            <a:off x="2007825" y="2027100"/>
            <a:ext cx="5161500" cy="223200"/>
          </a:xfrm>
          <a:prstGeom prst="rect">
            <a:avLst/>
          </a:prstGeom>
          <a:noFill/>
          <a:ln w="28575" cap="flat" cmpd="sng">
            <a:solidFill>
              <a:srgbClr val="4E2A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E2A84"/>
              </a:solidFill>
            </a:endParaRPr>
          </a:p>
        </p:txBody>
      </p:sp>
      <p:sp>
        <p:nvSpPr>
          <p:cNvPr id="317" name="Google Shape;317;p43"/>
          <p:cNvSpPr txBox="1"/>
          <p:nvPr/>
        </p:nvSpPr>
        <p:spPr>
          <a:xfrm>
            <a:off x="7169325" y="1371625"/>
            <a:ext cx="19746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Check the 95% credibility interval (CI): Does it cross 0?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Is the sign of the estimate aligned with H1?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Interpret the estimate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18" name="Google Shape;31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250" y="3172875"/>
            <a:ext cx="4306975" cy="187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43"/>
          <p:cNvCxnSpPr/>
          <p:nvPr/>
        </p:nvCxnSpPr>
        <p:spPr>
          <a:xfrm>
            <a:off x="7411600" y="3672300"/>
            <a:ext cx="3600" cy="681600"/>
          </a:xfrm>
          <a:prstGeom prst="straightConnector1">
            <a:avLst/>
          </a:prstGeom>
          <a:noFill/>
          <a:ln w="38100" cap="flat" cmpd="sng">
            <a:solidFill>
              <a:srgbClr val="4E2A8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" name="Google Shape;320;p43"/>
          <p:cNvSpPr/>
          <p:nvPr/>
        </p:nvSpPr>
        <p:spPr>
          <a:xfrm>
            <a:off x="7332850" y="3932550"/>
            <a:ext cx="161100" cy="16110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43"/>
          <p:cNvSpPr txBox="1"/>
          <p:nvPr/>
        </p:nvSpPr>
        <p:spPr>
          <a:xfrm>
            <a:off x="7482300" y="3879325"/>
            <a:ext cx="71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mean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22" name="Google Shape;322;p43"/>
          <p:cNvSpPr txBox="1"/>
          <p:nvPr/>
        </p:nvSpPr>
        <p:spPr>
          <a:xfrm>
            <a:off x="7482300" y="3573150"/>
            <a:ext cx="71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0.975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23" name="Google Shape;323;p43"/>
          <p:cNvSpPr txBox="1"/>
          <p:nvPr/>
        </p:nvSpPr>
        <p:spPr>
          <a:xfrm>
            <a:off x="7482300" y="4185500"/>
            <a:ext cx="71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0.025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 the estimate</a:t>
            </a:r>
            <a:endParaRPr/>
          </a:p>
        </p:txBody>
      </p:sp>
      <p:sp>
        <p:nvSpPr>
          <p:cNvPr id="329" name="Google Shape;329;p44"/>
          <p:cNvSpPr txBox="1">
            <a:spLocks noGrp="1"/>
          </p:cNvSpPr>
          <p:nvPr>
            <p:ph type="body" idx="1"/>
          </p:nvPr>
        </p:nvSpPr>
        <p:spPr>
          <a:xfrm>
            <a:off x="0" y="764006"/>
            <a:ext cx="91440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Run </a:t>
            </a: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exp(-1.118)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→ 0.326933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Exponential: </a:t>
            </a: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odds ratio </a:t>
            </a:r>
            <a:r>
              <a:rPr lang="en" sz="2000" b="1">
                <a:latin typeface="Helvetica Neue"/>
                <a:ea typeface="Helvetica Neue"/>
                <a:cs typeface="Helvetica Neue"/>
                <a:sym typeface="Helvetica Neue"/>
              </a:rPr>
              <a:t>(if an odds ratio is 1, odds are even)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i="1"/>
              <a:t>U.S. employees who frequently communicate about work purposes with other knowledge-hiders are</a:t>
            </a:r>
            <a:r>
              <a:rPr lang="en" b="1" i="1">
                <a:latin typeface="Helvetica Neue"/>
                <a:ea typeface="Helvetica Neue"/>
                <a:cs typeface="Helvetica Neue"/>
                <a:sym typeface="Helvetica Neue"/>
              </a:rPr>
              <a:t> 0.328 times less likely</a:t>
            </a:r>
            <a:r>
              <a:rPr lang="en" i="1"/>
              <a:t> to hide knowledge themselves than if they didn’t frequently communicate with other knowledge-hiders.</a:t>
            </a:r>
            <a:endParaRPr i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 the estimate</a:t>
            </a:r>
            <a:endParaRPr/>
          </a:p>
        </p:txBody>
      </p:sp>
      <p:sp>
        <p:nvSpPr>
          <p:cNvPr id="335" name="Google Shape;335;p45"/>
          <p:cNvSpPr txBox="1">
            <a:spLocks noGrp="1"/>
          </p:cNvSpPr>
          <p:nvPr>
            <p:ph type="body" idx="1"/>
          </p:nvPr>
        </p:nvSpPr>
        <p:spPr>
          <a:xfrm>
            <a:off x="0" y="764006"/>
            <a:ext cx="91440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Run </a:t>
            </a: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exp(-1.118)/(1+exp(-1.118))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→ 0.2463825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Inverse logit (</a:t>
            </a: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plogis</a:t>
            </a:r>
            <a:r>
              <a:rPr lang="en" sz="2400"/>
              <a:t>): </a:t>
            </a: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probability </a:t>
            </a:r>
            <a:r>
              <a:rPr lang="en" sz="2000" b="1">
                <a:latin typeface="Helvetica Neue"/>
                <a:ea typeface="Helvetica Neue"/>
                <a:cs typeface="Helvetica Neue"/>
                <a:sym typeface="Helvetica Neue"/>
              </a:rPr>
              <a:t>(random chance is 50%)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i="1"/>
              <a:t>The probability of US-based team members hiding knowledge is </a:t>
            </a:r>
            <a:r>
              <a:rPr lang="en" b="1" i="1">
                <a:latin typeface="Helvetica Neue"/>
                <a:ea typeface="Helvetica Neue"/>
                <a:cs typeface="Helvetica Neue"/>
                <a:sym typeface="Helvetica Neue"/>
              </a:rPr>
              <a:t>24.6%</a:t>
            </a:r>
            <a:r>
              <a:rPr lang="en" i="1"/>
              <a:t> if they frequently communicate about work purposes with other knowledge-hiders</a:t>
            </a:r>
            <a:endParaRPr i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6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 &amp; Compare</a:t>
            </a:r>
            <a:endParaRPr/>
          </a:p>
        </p:txBody>
      </p:sp>
      <p:pic>
        <p:nvPicPr>
          <p:cNvPr id="341" name="Google Shape;34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8798"/>
            <a:ext cx="8595775" cy="32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>
            <a:spLocks noGrp="1"/>
          </p:cNvSpPr>
          <p:nvPr>
            <p:ph type="title"/>
          </p:nvPr>
        </p:nvSpPr>
        <p:spPr>
          <a:xfrm>
            <a:off x="0" y="300805"/>
            <a:ext cx="9144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Goodness-of-fit Test</a:t>
            </a:r>
            <a:endParaRPr/>
          </a:p>
        </p:txBody>
      </p:sp>
      <p:sp>
        <p:nvSpPr>
          <p:cNvPr id="347" name="Google Shape;347;p47"/>
          <p:cNvSpPr txBox="1">
            <a:spLocks noGrp="1"/>
          </p:cNvSpPr>
          <p:nvPr>
            <p:ph type="body" idx="1"/>
          </p:nvPr>
        </p:nvSpPr>
        <p:spPr>
          <a:xfrm>
            <a:off x="0" y="916400"/>
            <a:ext cx="9144000" cy="3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Which one indicates a good fit, </a:t>
            </a:r>
            <a:r>
              <a:rPr lang="en" i="1"/>
              <a:t>p</a:t>
            </a:r>
            <a:r>
              <a:rPr lang="en"/>
              <a:t> &lt; .05 or </a:t>
            </a:r>
            <a:r>
              <a:rPr lang="en" i="1"/>
              <a:t>p</a:t>
            </a:r>
            <a:r>
              <a:rPr lang="en"/>
              <a:t> &gt; .05?</a:t>
            </a:r>
            <a:endParaRPr/>
          </a:p>
        </p:txBody>
      </p:sp>
      <p:pic>
        <p:nvPicPr>
          <p:cNvPr id="348" name="Google Shape;348;p47"/>
          <p:cNvPicPr preferRelativeResize="0"/>
          <p:nvPr/>
        </p:nvPicPr>
        <p:blipFill rotWithShape="1">
          <a:blip r:embed="rId3">
            <a:alphaModFix/>
          </a:blip>
          <a:srcRect l="1086" t="49997" r="71941" b="9862"/>
          <a:stretch/>
        </p:blipFill>
        <p:spPr>
          <a:xfrm>
            <a:off x="2644725" y="1542150"/>
            <a:ext cx="3854551" cy="322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1173</Words>
  <Application>Microsoft Office PowerPoint</Application>
  <PresentationFormat>On-screen Show (16:9)</PresentationFormat>
  <Paragraphs>128</Paragraphs>
  <Slides>31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Helvetica Neue Light</vt:lpstr>
      <vt:lpstr>Courier New</vt:lpstr>
      <vt:lpstr>Helvetica Neue</vt:lpstr>
      <vt:lpstr>Calibri</vt:lpstr>
      <vt:lpstr>Arial</vt:lpstr>
      <vt:lpstr>Office Theme</vt:lpstr>
      <vt:lpstr>Lab 5</vt:lpstr>
      <vt:lpstr>Autologistic Actor Attribute Model (ALAAM)</vt:lpstr>
      <vt:lpstr>What you need for Lab 5</vt:lpstr>
      <vt:lpstr>Data</vt:lpstr>
      <vt:lpstr>What is Knowledge Hiding?</vt:lpstr>
      <vt:lpstr>Binarizing Knowledge Hiding</vt:lpstr>
      <vt:lpstr>Binarizing Knowledge Hiding</vt:lpstr>
      <vt:lpstr>Data</vt:lpstr>
      <vt:lpstr>Hypotheses</vt:lpstr>
      <vt:lpstr>Model 0 - initial contagion model</vt:lpstr>
      <vt:lpstr>Model 0 - initial contagion model</vt:lpstr>
      <vt:lpstr>Model 0 - initial contagion model</vt:lpstr>
      <vt:lpstr>Model 0 - initial contagion model</vt:lpstr>
      <vt:lpstr>Model 0 - initial contagion model</vt:lpstr>
      <vt:lpstr>What is Effective Sample Size (ESS)?</vt:lpstr>
      <vt:lpstr>What is Effective Sample Size (ESS)?</vt:lpstr>
      <vt:lpstr>Model 0 - initial contagion model</vt:lpstr>
      <vt:lpstr>Model 0 - initial contagion model</vt:lpstr>
      <vt:lpstr>What is SACF?</vt:lpstr>
      <vt:lpstr>What is SACF?</vt:lpstr>
      <vt:lpstr>Model 0 - initial contagion model</vt:lpstr>
      <vt:lpstr>Where is ESS/SACF from?</vt:lpstr>
      <vt:lpstr>Good Trace Plot</vt:lpstr>
      <vt:lpstr>How can we improve ESS/SACF?</vt:lpstr>
      <vt:lpstr>Model 1 - improved contagion model</vt:lpstr>
      <vt:lpstr>Testing Hypotheses</vt:lpstr>
      <vt:lpstr>Testing Hypothesis 1</vt:lpstr>
      <vt:lpstr>Interpret the estimate</vt:lpstr>
      <vt:lpstr>Interpret the estimate</vt:lpstr>
      <vt:lpstr>Repeat &amp; Compare</vt:lpstr>
      <vt:lpstr>Goodness-of-fit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5</dc:title>
  <cp:lastModifiedBy>Vsevolod Suschevskiy</cp:lastModifiedBy>
  <cp:revision>1</cp:revision>
  <dcterms:modified xsi:type="dcterms:W3CDTF">2024-05-06T20:52:45Z</dcterms:modified>
</cp:coreProperties>
</file>